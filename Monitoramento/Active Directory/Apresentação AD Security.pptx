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500" y="6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ique de Andrade Soares dos Santos" userId="ddae198d-2893-4b18-8bc6-35dbcd7dade5" providerId="ADAL" clId="{115F58A9-AA57-460B-B9A6-43BE5D5F5197}"/>
    <pc:docChg chg="modSld">
      <pc:chgData name="Henrique de Andrade Soares dos Santos" userId="ddae198d-2893-4b18-8bc6-35dbcd7dade5" providerId="ADAL" clId="{115F58A9-AA57-460B-B9A6-43BE5D5F5197}" dt="2026-04-24T20:20:15.371" v="15" actId="20577"/>
      <pc:docMkLst>
        <pc:docMk/>
      </pc:docMkLst>
      <pc:sldChg chg="modSp mod">
        <pc:chgData name="Henrique de Andrade Soares dos Santos" userId="ddae198d-2893-4b18-8bc6-35dbcd7dade5" providerId="ADAL" clId="{115F58A9-AA57-460B-B9A6-43BE5D5F5197}" dt="2026-04-24T20:20:15.371" v="15" actId="20577"/>
        <pc:sldMkLst>
          <pc:docMk/>
          <pc:sldMk cId="0" sldId="259"/>
        </pc:sldMkLst>
        <pc:spChg chg="mod">
          <ac:chgData name="Henrique de Andrade Soares dos Santos" userId="ddae198d-2893-4b18-8bc6-35dbcd7dade5" providerId="ADAL" clId="{115F58A9-AA57-460B-B9A6-43BE5D5F5197}" dt="2026-04-24T20:20:15.371" v="15" actId="20577"/>
          <ac:spMkLst>
            <pc:docMk/>
            <pc:sldMk cId="0" sldId="259"/>
            <ac:spMk id="1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(R$)</c:v>
                </c:pt>
              </c:strCache>
            </c:strRef>
          </c:tx>
          <c:spPr>
            <a:solidFill>
              <a:srgbClr val="1B5E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5 clientes</c:v>
                </c:pt>
                <c:pt idx="1">
                  <c:v>10 clientes</c:v>
                </c:pt>
                <c:pt idx="2">
                  <c:v>20 clientes</c:v>
                </c:pt>
                <c:pt idx="3">
                  <c:v>30 clientes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6000</c:v>
                </c:pt>
                <c:pt idx="1">
                  <c:v>12000</c:v>
                </c:pt>
                <c:pt idx="2">
                  <c:v>24000</c:v>
                </c:pt>
                <c:pt idx="3">
                  <c:v>36000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B5-414F-AFFA-B4624E49A8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D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4F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6609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217920" y="-2011680"/>
            <a:ext cx="5029200" cy="5029200"/>
          </a:xfrm>
          <a:prstGeom prst="ellipse">
            <a:avLst/>
          </a:prstGeom>
          <a:solidFill>
            <a:srgbClr val="C9714A">
              <a:alpha val="0"/>
            </a:srgbClr>
          </a:solidFill>
          <a:ln w="254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675120" y="-1554480"/>
            <a:ext cx="4114800" cy="4114800"/>
          </a:xfrm>
          <a:prstGeom prst="ellipse">
            <a:avLst/>
          </a:prstGeom>
          <a:solidFill>
            <a:srgbClr val="C9714A">
              <a:alpha val="0"/>
            </a:srgbClr>
          </a:solidFill>
          <a:ln w="12700">
            <a:solidFill>
              <a:srgbClr val="C9714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903720" y="438912"/>
            <a:ext cx="548640" cy="548640"/>
          </a:xfrm>
          <a:prstGeom prst="rect">
            <a:avLst/>
          </a:prstGeom>
          <a:solidFill>
            <a:srgbClr val="C9714A">
              <a:alpha val="45000"/>
            </a:srgbClr>
          </a:solidFill>
          <a:ln w="127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583680" y="777240"/>
            <a:ext cx="548640" cy="548640"/>
          </a:xfrm>
          <a:prstGeom prst="rect">
            <a:avLst/>
          </a:prstGeom>
          <a:solidFill>
            <a:srgbClr val="C9714A">
              <a:alpha val="25000"/>
            </a:srgbClr>
          </a:solidFill>
          <a:ln w="1016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097280"/>
            <a:ext cx="2286000" cy="12161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41605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Security Monitoring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20040" y="46177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Produto Interno · Abril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54864"/>
            <a:ext cx="822960" cy="4389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63840" y="-1645920"/>
            <a:ext cx="3200400" cy="3200400"/>
          </a:xfrm>
          <a:prstGeom prst="ellipse">
            <a:avLst/>
          </a:prstGeom>
          <a:solidFill>
            <a:srgbClr val="C9714A">
              <a:alpha val="0"/>
            </a:srgbClr>
          </a:solidFill>
          <a:ln w="1905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7498080" y="-1280160"/>
            <a:ext cx="3474720" cy="3474720"/>
          </a:xfrm>
          <a:prstGeom prst="ellipse">
            <a:avLst/>
          </a:prstGeom>
          <a:solidFill>
            <a:srgbClr val="C9714A">
              <a:alpha val="0"/>
            </a:srgbClr>
          </a:solidFill>
          <a:ln w="8890">
            <a:solidFill>
              <a:srgbClr val="C9714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41148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11480" y="914400"/>
            <a:ext cx="384048" cy="347472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411480" y="9144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520440" y="9144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os controladores de domínio dos nossos clientes estão expostos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1298448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411480" y="1463040"/>
            <a:ext cx="384048" cy="347472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11480" y="14630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1463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— 3 produtos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520440" y="14630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· Plano de Ação · Monitoramento Contínuo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1480" y="1847088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411480" y="2011680"/>
            <a:ext cx="384048" cy="347472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411480" y="20116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68680" y="2011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de Segurança AD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520440" y="20116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Escopo, entregáveis e estratégia de venda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11480" y="2395728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411480" y="2560320"/>
            <a:ext cx="384048" cy="347472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411480" y="25603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68680" y="2560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Ação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520440" y="25603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de remediação em small wins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11480" y="2944368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411480" y="3108960"/>
            <a:ext cx="384048" cy="347472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411480" y="3108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68680" y="3108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Contínuo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520440" y="310896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 + Grafana + relatório mensal + resposta a incidentes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29"/>
          <p:cNvSpPr/>
          <p:nvPr/>
        </p:nvSpPr>
        <p:spPr>
          <a:xfrm>
            <a:off x="411480" y="3657600"/>
            <a:ext cx="384048" cy="347472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411480" y="36576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68680" y="36576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financeiro e escala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3520440" y="36576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Precificação, MRR e cenários de crescimento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11480" y="4041648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4"/>
          <p:cNvSpPr/>
          <p:nvPr/>
        </p:nvSpPr>
        <p:spPr>
          <a:xfrm>
            <a:off x="411480" y="4206240"/>
            <a:ext cx="384048" cy="347472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5"/>
          <p:cNvSpPr/>
          <p:nvPr/>
        </p:nvSpPr>
        <p:spPr>
          <a:xfrm>
            <a:off x="411480" y="42062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68680" y="4206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3520440" y="42062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precisamos para começar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54864"/>
            <a:ext cx="822960" cy="4389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63840" y="-1645920"/>
            <a:ext cx="3200400" cy="3200400"/>
          </a:xfrm>
          <a:prstGeom prst="ellipse">
            <a:avLst/>
          </a:prstGeom>
          <a:solidFill>
            <a:srgbClr val="C9714A">
              <a:alpha val="0"/>
            </a:srgbClr>
          </a:solidFill>
          <a:ln w="1905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7498080" y="-1280160"/>
            <a:ext cx="3474720" cy="3474720"/>
          </a:xfrm>
          <a:prstGeom prst="ellipse">
            <a:avLst/>
          </a:prstGeom>
          <a:solidFill>
            <a:srgbClr val="C9714A">
              <a:alpha val="0"/>
            </a:srgbClr>
          </a:solidFill>
          <a:ln w="8890">
            <a:solidFill>
              <a:srgbClr val="C9714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41148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que queremos resolver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11480" y="914400"/>
            <a:ext cx="2697480" cy="3749040"/>
          </a:xfrm>
          <a:prstGeom prst="rect">
            <a:avLst/>
          </a:prstGeom>
          <a:solidFill>
            <a:srgbClr val="F2F4F7"/>
          </a:solidFill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411480" y="914400"/>
            <a:ext cx="269748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" y="10972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166420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DCs são o coração do AD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" y="2304288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Comprometer um DC significa comprometer toda a infraestrutura de identidade — usuários, grupos, políticas e autenticação de toda a empresa.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46120" y="914400"/>
            <a:ext cx="2697480" cy="3749040"/>
          </a:xfrm>
          <a:prstGeom prst="rect">
            <a:avLst/>
          </a:prstGeom>
          <a:solidFill>
            <a:srgbClr val="F2F4F7"/>
          </a:solidFill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3246120" y="914400"/>
            <a:ext cx="2697480" cy="64008"/>
          </a:xfrm>
          <a:prstGeom prst="rect">
            <a:avLst/>
          </a:prstGeom>
          <a:solidFill>
            <a:srgbClr val="C9714A"/>
          </a:solidFill>
          <a:ln w="127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688" y="10972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83280" y="166420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padrão não cobre segurança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383280" y="2304288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Nossos clientes já têm monitoramento de uptime e performance. Mas ninguém está olhando para Credential Guard, LSA Protection, SID History ou eventos críticos de auditoria.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080760" y="914400"/>
            <a:ext cx="2697480" cy="3749040"/>
          </a:xfrm>
          <a:prstGeom prst="rect">
            <a:avLst/>
          </a:prstGeom>
          <a:solidFill>
            <a:srgbClr val="F2F4F7"/>
          </a:solidFill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3"/>
          <p:cNvSpPr/>
          <p:nvPr/>
        </p:nvSpPr>
        <p:spPr>
          <a:xfrm>
            <a:off x="6080760" y="914400"/>
            <a:ext cx="2697480" cy="64008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6328" y="109728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17920" y="166420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Ataques a AD estão em alta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217920" y="2304288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Ticket, Pass-the-Hash, DCSync e ransomware têm o AD como alvo principal. A maioria das vítimas não sabia que estava vulnerável antes do incidente.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1148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já monitoramos a infraestrutura dos nossos clientes — falta um produto que proteja especificamente a camada de identidade.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54864"/>
            <a:ext cx="822960" cy="4389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63840" y="-1645920"/>
            <a:ext cx="3200400" cy="3200400"/>
          </a:xfrm>
          <a:prstGeom prst="ellipse">
            <a:avLst/>
          </a:prstGeom>
          <a:solidFill>
            <a:srgbClr val="C9714A">
              <a:alpha val="0"/>
            </a:srgbClr>
          </a:solidFill>
          <a:ln w="1905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7498080" y="-1280160"/>
            <a:ext cx="3474720" cy="3474720"/>
          </a:xfrm>
          <a:prstGeom prst="ellipse">
            <a:avLst/>
          </a:prstGeom>
          <a:solidFill>
            <a:srgbClr val="C9714A">
              <a:alpha val="0"/>
            </a:srgbClr>
          </a:solidFill>
          <a:ln w="8890">
            <a:solidFill>
              <a:srgbClr val="C9714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41148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solução — três produtos encadeados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11480" y="914400"/>
            <a:ext cx="2697480" cy="3977640"/>
          </a:xfrm>
          <a:prstGeom prst="rect">
            <a:avLst/>
          </a:prstGeom>
          <a:solidFill>
            <a:srgbClr val="EBF4FF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411480" y="914400"/>
            <a:ext cx="2697480" cy="457200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502920" y="93268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Assessment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" y="15087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" y="205740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Avulso · Entrega única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21208" y="2423160"/>
            <a:ext cx="24780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completo do ambiente AD com relatório executivo, riscos classificados por severidade e apresentação formal para a liderança do cliente.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4952" y="2651760"/>
            <a:ext cx="246888" cy="24688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246120" y="914400"/>
            <a:ext cx="2697480" cy="3977640"/>
          </a:xfrm>
          <a:prstGeom prst="rect">
            <a:avLst/>
          </a:prstGeom>
          <a:solidFill>
            <a:srgbClr val="FDF0EB"/>
          </a:solidFill>
          <a:ln w="127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0"/>
          <p:cNvSpPr/>
          <p:nvPr/>
        </p:nvSpPr>
        <p:spPr>
          <a:xfrm>
            <a:off x="3246120" y="914400"/>
            <a:ext cx="2697480" cy="457200"/>
          </a:xfrm>
          <a:prstGeom prst="rect">
            <a:avLst/>
          </a:prstGeom>
          <a:solidFill>
            <a:srgbClr val="C9714A"/>
          </a:solidFill>
          <a:ln w="127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1"/>
          <p:cNvSpPr/>
          <p:nvPr/>
        </p:nvSpPr>
        <p:spPr>
          <a:xfrm>
            <a:off x="3337560" y="93268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Plano de Ação</a:t>
            </a:r>
            <a:endParaRPr lang="en-US" sz="13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1688" y="150876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355848" y="205740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7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· Quick wins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3355848" y="2423160"/>
            <a:ext cx="24780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Remediação incremental das vulnerabilidades encontradas, com entregas visíveis a cada sprint. O cliente vê resultado rápido e investe de forma progressiva.</a:t>
            </a:r>
            <a:endParaRPr lang="en-US" sz="11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2651760"/>
            <a:ext cx="246888" cy="246888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080760" y="914400"/>
            <a:ext cx="2697480" cy="3977640"/>
          </a:xfrm>
          <a:prstGeom prst="rect">
            <a:avLst/>
          </a:prstGeom>
          <a:solidFill>
            <a:srgbClr val="EDFAF1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5"/>
          <p:cNvSpPr/>
          <p:nvPr/>
        </p:nvSpPr>
        <p:spPr>
          <a:xfrm>
            <a:off x="6080760" y="914400"/>
            <a:ext cx="2697480" cy="457200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6"/>
          <p:cNvSpPr/>
          <p:nvPr/>
        </p:nvSpPr>
        <p:spPr>
          <a:xfrm>
            <a:off x="6172200" y="93268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Monitoramento Contínuo</a:t>
            </a:r>
            <a:endParaRPr lang="en-US" sz="13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6328" y="1508760"/>
            <a:ext cx="457200" cy="4572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190488" y="205740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Recorrente · Mensal</a:t>
            </a:r>
            <a:endParaRPr lang="en-US" sz="1000" dirty="0"/>
          </a:p>
        </p:txBody>
      </p:sp>
      <p:sp>
        <p:nvSpPr>
          <p:cNvPr id="26" name="Text 18"/>
          <p:cNvSpPr/>
          <p:nvPr/>
        </p:nvSpPr>
        <p:spPr>
          <a:xfrm>
            <a:off x="6190488" y="2423160"/>
            <a:ext cx="24780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 + Grafana + equipe ativa. Dashboard em tempo real, relatório mensal e resposta a incidentes de segurança. Receita recorrente previsível.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41148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cria o contexto e a necessidade para a próxima — o cliente avança no funil naturalmente.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54864"/>
            <a:ext cx="822960" cy="4389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63840" y="-1645920"/>
            <a:ext cx="3200400" cy="3200400"/>
          </a:xfrm>
          <a:prstGeom prst="ellipse">
            <a:avLst/>
          </a:prstGeom>
          <a:solidFill>
            <a:srgbClr val="C9714A">
              <a:alpha val="0"/>
            </a:srgbClr>
          </a:solidFill>
          <a:ln w="1905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7498080" y="-1280160"/>
            <a:ext cx="3474720" cy="3474720"/>
          </a:xfrm>
          <a:prstGeom prst="ellipse">
            <a:avLst/>
          </a:prstGeom>
          <a:solidFill>
            <a:srgbClr val="C9714A">
              <a:alpha val="0"/>
            </a:srgbClr>
          </a:solidFill>
          <a:ln w="8890">
            <a:solidFill>
              <a:srgbClr val="C9714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201168" y="0"/>
            <a:ext cx="8942832" cy="804672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1148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Assessment de Segurança AD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20040" y="9144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incluído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37160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6072" y="134416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de Credential Guard, LSA Protection, Bitlocker, SMB e LDAP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792224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76072" y="176479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contas privilegiadas e membros de grupos administrativos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212848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76072" y="218541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de políticas de auditoria e eventos críticos de segurança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633472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76072" y="260604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Kerberos: preauth desabilitado, delegação irrestrita, RC4</a:t>
            </a:r>
            <a:endParaRPr lang="en-US" sz="11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054096"/>
            <a:ext cx="201168" cy="2011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76072" y="302666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de patches de segurança e conformidade geral</a:t>
            </a:r>
            <a:endParaRPr lang="en-US" sz="11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0"/>
            <a:ext cx="201168" cy="20116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76072" y="344728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executivo com riscos classificados por severidade</a:t>
            </a:r>
            <a:endParaRPr lang="en-US" sz="11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895344"/>
            <a:ext cx="201168" cy="20116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76072" y="386791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formal para liderança do cliente</a:t>
            </a:r>
            <a:endParaRPr lang="en-US" sz="1100" dirty="0"/>
          </a:p>
        </p:txBody>
      </p:sp>
      <p:sp>
        <p:nvSpPr>
          <p:cNvPr id="23" name="Shape 13"/>
          <p:cNvSpPr/>
          <p:nvPr/>
        </p:nvSpPr>
        <p:spPr>
          <a:xfrm>
            <a:off x="5257800" y="914400"/>
            <a:ext cx="3611880" cy="4023360"/>
          </a:xfrm>
          <a:prstGeom prst="rect">
            <a:avLst/>
          </a:prstGeom>
          <a:solidFill>
            <a:srgbClr val="FDF0EB"/>
          </a:solidFill>
          <a:ln w="127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14"/>
          <p:cNvSpPr/>
          <p:nvPr/>
        </p:nvSpPr>
        <p:spPr>
          <a:xfrm>
            <a:off x="5257800" y="914400"/>
            <a:ext cx="3611880" cy="457200"/>
          </a:xfrm>
          <a:prstGeom prst="rect">
            <a:avLst/>
          </a:prstGeom>
          <a:solidFill>
            <a:srgbClr val="C9714A"/>
          </a:solidFill>
          <a:ln w="127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15"/>
          <p:cNvSpPr/>
          <p:nvPr/>
        </p:nvSpPr>
        <p:spPr>
          <a:xfrm>
            <a:off x="5349240" y="93268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entrega</a:t>
            </a:r>
            <a:endParaRPr lang="en-US" sz="1300" dirty="0"/>
          </a:p>
        </p:txBody>
      </p:sp>
      <p:sp>
        <p:nvSpPr>
          <p:cNvPr id="26" name="Text 16"/>
          <p:cNvSpPr/>
          <p:nvPr/>
        </p:nvSpPr>
        <p:spPr>
          <a:xfrm>
            <a:off x="5394960" y="148132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assessment entrega o diagnóstico e os riscos — mas não o plano de correção.</a:t>
            </a:r>
            <a:endParaRPr lang="en-US" sz="1150" dirty="0"/>
          </a:p>
        </p:txBody>
      </p:sp>
      <p:sp>
        <p:nvSpPr>
          <p:cNvPr id="27" name="Text 17"/>
          <p:cNvSpPr/>
          <p:nvPr/>
        </p:nvSpPr>
        <p:spPr>
          <a:xfrm>
            <a:off x="5394960" y="21762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</a:t>
            </a:r>
            <a:endParaRPr lang="en-US" sz="1200" dirty="0"/>
          </a:p>
        </p:txBody>
      </p:sp>
      <p:sp>
        <p:nvSpPr>
          <p:cNvPr id="28" name="Shape 18"/>
          <p:cNvSpPr/>
          <p:nvPr/>
        </p:nvSpPr>
        <p:spPr>
          <a:xfrm>
            <a:off x="5394960" y="2551176"/>
            <a:ext cx="118872" cy="118872"/>
          </a:xfrm>
          <a:prstGeom prst="ellipse">
            <a:avLst/>
          </a:prstGeom>
          <a:solidFill>
            <a:srgbClr val="C9714A"/>
          </a:solidFill>
          <a:ln w="127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19"/>
          <p:cNvSpPr/>
          <p:nvPr/>
        </p:nvSpPr>
        <p:spPr>
          <a:xfrm>
            <a:off x="5577840" y="24963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Percepção de valor clara e separada por produto</a:t>
            </a:r>
            <a:endParaRPr lang="en-US" sz="1100" dirty="0"/>
          </a:p>
        </p:txBody>
      </p:sp>
      <p:sp>
        <p:nvSpPr>
          <p:cNvPr id="30" name="Shape 20"/>
          <p:cNvSpPr/>
          <p:nvPr/>
        </p:nvSpPr>
        <p:spPr>
          <a:xfrm>
            <a:off x="5394960" y="2980944"/>
            <a:ext cx="118872" cy="118872"/>
          </a:xfrm>
          <a:prstGeom prst="ellipse">
            <a:avLst/>
          </a:prstGeom>
          <a:solidFill>
            <a:srgbClr val="C9714A"/>
          </a:solidFill>
          <a:ln w="127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1"/>
          <p:cNvSpPr/>
          <p:nvPr/>
        </p:nvSpPr>
        <p:spPr>
          <a:xfrm>
            <a:off x="5577840" y="29260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leva o relatório para justificar investimento internamente</a:t>
            </a:r>
            <a:endParaRPr lang="en-US" sz="1100" dirty="0"/>
          </a:p>
        </p:txBody>
      </p:sp>
      <p:sp>
        <p:nvSpPr>
          <p:cNvPr id="32" name="Shape 22"/>
          <p:cNvSpPr/>
          <p:nvPr/>
        </p:nvSpPr>
        <p:spPr>
          <a:xfrm>
            <a:off x="5394960" y="3410712"/>
            <a:ext cx="118872" cy="118872"/>
          </a:xfrm>
          <a:prstGeom prst="ellipse">
            <a:avLst/>
          </a:prstGeom>
          <a:solidFill>
            <a:srgbClr val="C9714A"/>
          </a:solidFill>
          <a:ln w="127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23"/>
          <p:cNvSpPr/>
          <p:nvPr/>
        </p:nvSpPr>
        <p:spPr>
          <a:xfrm>
            <a:off x="5577840" y="335584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a venda natural do Plano de Ação</a:t>
            </a:r>
            <a:endParaRPr lang="en-US" sz="1100" dirty="0"/>
          </a:p>
        </p:txBody>
      </p:sp>
      <p:sp>
        <p:nvSpPr>
          <p:cNvPr id="34" name="Shape 24"/>
          <p:cNvSpPr/>
          <p:nvPr/>
        </p:nvSpPr>
        <p:spPr>
          <a:xfrm>
            <a:off x="5394960" y="3840480"/>
            <a:ext cx="118872" cy="118872"/>
          </a:xfrm>
          <a:prstGeom prst="ellipse">
            <a:avLst/>
          </a:prstGeom>
          <a:solidFill>
            <a:srgbClr val="C9714A"/>
          </a:solidFill>
          <a:ln w="127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25"/>
          <p:cNvSpPr/>
          <p:nvPr/>
        </p:nvSpPr>
        <p:spPr>
          <a:xfrm>
            <a:off x="5577840" y="378561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a metodologia de correção da Redix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54864"/>
            <a:ext cx="822960" cy="4389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63840" y="-1645920"/>
            <a:ext cx="3200400" cy="3200400"/>
          </a:xfrm>
          <a:prstGeom prst="ellipse">
            <a:avLst/>
          </a:prstGeom>
          <a:solidFill>
            <a:srgbClr val="C9714A">
              <a:alpha val="0"/>
            </a:srgbClr>
          </a:solidFill>
          <a:ln w="1905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7498080" y="-1280160"/>
            <a:ext cx="3474720" cy="3474720"/>
          </a:xfrm>
          <a:prstGeom prst="ellipse">
            <a:avLst/>
          </a:prstGeom>
          <a:solidFill>
            <a:srgbClr val="C9714A">
              <a:alpha val="0"/>
            </a:srgbClr>
          </a:solidFill>
          <a:ln w="8890">
            <a:solidFill>
              <a:srgbClr val="C9714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201168" y="0"/>
            <a:ext cx="8942832" cy="804672"/>
          </a:xfrm>
          <a:prstGeom prst="rect">
            <a:avLst/>
          </a:prstGeom>
          <a:solidFill>
            <a:srgbClr val="C9714A"/>
          </a:solidFill>
          <a:ln w="127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1148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Plano de Ação — Remediação em Small Wins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2004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" y="12618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o assessment, as vulnerabilidades são priorizadas por risco e remediadas em sprints de 2 semanas. Cada sprint entrega uma melhoria visível e mensurável — o cliente vê resultado rápido sem precisar de um projeto grande.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0040" y="1874520"/>
            <a:ext cx="1005840" cy="347472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374904" y="1874520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325880" y="1874520"/>
            <a:ext cx="1920240" cy="347472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1380744" y="187452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46120" y="1874520"/>
            <a:ext cx="3200400" cy="347472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3300984" y="187452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do sprint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46520" y="1874520"/>
            <a:ext cx="2514600" cy="347472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501384" y="1874520"/>
            <a:ext cx="2459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entregue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20040" y="2221992"/>
            <a:ext cx="1005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374904" y="22219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325880" y="2221992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1380744" y="22219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 — Proteções do SO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46120" y="2221992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3300984" y="22219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Habilitar Credential Guard · Ativar LSA Protection · Configurar Protected Users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446520" y="2221992"/>
            <a:ext cx="2514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6501384" y="22219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DCs protegidos contra roubo de credenciais em memória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0040" y="2679192"/>
            <a:ext cx="1005840" cy="457200"/>
          </a:xfrm>
          <a:prstGeom prst="rect">
            <a:avLst/>
          </a:prstGeom>
          <a:solidFill>
            <a:srgbClr val="F2F4F7"/>
          </a:solidFill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374904" y="2679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325880" y="2679192"/>
            <a:ext cx="1920240" cy="457200"/>
          </a:xfrm>
          <a:prstGeom prst="rect">
            <a:avLst/>
          </a:prstGeom>
          <a:solidFill>
            <a:srgbClr val="F2F4F7"/>
          </a:solidFill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/>
          <p:nvPr/>
        </p:nvSpPr>
        <p:spPr>
          <a:xfrm>
            <a:off x="1380744" y="26791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 — Protocolos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246120" y="2679192"/>
            <a:ext cx="3200400" cy="457200"/>
          </a:xfrm>
          <a:prstGeom prst="rect">
            <a:avLst/>
          </a:prstGeom>
          <a:solidFill>
            <a:srgbClr val="F2F4F7"/>
          </a:solidFill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3300984" y="26791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Desabilitar SMB 1.0 · Exigir SMB Signing · Configurar LDAP Signing + Channel Binding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446520" y="2679192"/>
            <a:ext cx="2514600" cy="457200"/>
          </a:xfrm>
          <a:prstGeom prst="rect">
            <a:avLst/>
          </a:prstGeom>
          <a:solidFill>
            <a:srgbClr val="F2F4F7"/>
          </a:solidFill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6501384" y="26791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Eliminação de vetores de ataque de rede clássicos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20040" y="3136392"/>
            <a:ext cx="1005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2"/>
          <p:cNvSpPr/>
          <p:nvPr/>
        </p:nvSpPr>
        <p:spPr>
          <a:xfrm>
            <a:off x="374904" y="313639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7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1325880" y="3136392"/>
            <a:ext cx="1920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4"/>
          <p:cNvSpPr/>
          <p:nvPr/>
        </p:nvSpPr>
        <p:spPr>
          <a:xfrm>
            <a:off x="1380744" y="31363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— Contas &amp; Identidades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246120" y="3136392"/>
            <a:ext cx="3200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6"/>
          <p:cNvSpPr/>
          <p:nvPr/>
        </p:nvSpPr>
        <p:spPr>
          <a:xfrm>
            <a:off x="3300984" y="313639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membros de grupos privilegiados · Mover admins para Protected Users · Desabilitar Kerberos preauth desnecessário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446520" y="3136392"/>
            <a:ext cx="2514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8"/>
          <p:cNvSpPr/>
          <p:nvPr/>
        </p:nvSpPr>
        <p:spPr>
          <a:xfrm>
            <a:off x="6501384" y="313639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Superfície de ataque de identidade reduzida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320040" y="3611880"/>
            <a:ext cx="1005840" cy="475488"/>
          </a:xfrm>
          <a:prstGeom prst="rect">
            <a:avLst/>
          </a:prstGeom>
          <a:solidFill>
            <a:srgbClr val="F2F4F7"/>
          </a:solidFill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0"/>
          <p:cNvSpPr/>
          <p:nvPr/>
        </p:nvSpPr>
        <p:spPr>
          <a:xfrm>
            <a:off x="374904" y="36118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7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1325880" y="3611880"/>
            <a:ext cx="1920240" cy="475488"/>
          </a:xfrm>
          <a:prstGeom prst="rect">
            <a:avLst/>
          </a:prstGeom>
          <a:solidFill>
            <a:srgbClr val="F2F4F7"/>
          </a:solidFill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2"/>
          <p:cNvSpPr/>
          <p:nvPr/>
        </p:nvSpPr>
        <p:spPr>
          <a:xfrm>
            <a:off x="1380744" y="36118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— Auditoria &amp; Logs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3246120" y="3611880"/>
            <a:ext cx="3200400" cy="475488"/>
          </a:xfrm>
          <a:prstGeom prst="rect">
            <a:avLst/>
          </a:prstGeom>
          <a:solidFill>
            <a:srgbClr val="F2F4F7"/>
          </a:solidFill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4"/>
          <p:cNvSpPr/>
          <p:nvPr/>
        </p:nvSpPr>
        <p:spPr>
          <a:xfrm>
            <a:off x="3300984" y="361188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política de auditoria · Habilitar eventos críticos · Configurar retenção de logs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446520" y="3611880"/>
            <a:ext cx="2514600" cy="475488"/>
          </a:xfrm>
          <a:prstGeom prst="rect">
            <a:avLst/>
          </a:prstGeom>
          <a:solidFill>
            <a:srgbClr val="F2F4F7"/>
          </a:solidFill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6"/>
          <p:cNvSpPr/>
          <p:nvPr/>
        </p:nvSpPr>
        <p:spPr>
          <a:xfrm>
            <a:off x="6501384" y="361188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Rastreabilidade e detecção de ataques habilitadas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320040" y="4087368"/>
            <a:ext cx="1005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8"/>
          <p:cNvSpPr/>
          <p:nvPr/>
        </p:nvSpPr>
        <p:spPr>
          <a:xfrm>
            <a:off x="374904" y="408736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1325880" y="4087368"/>
            <a:ext cx="1920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50"/>
          <p:cNvSpPr/>
          <p:nvPr/>
        </p:nvSpPr>
        <p:spPr>
          <a:xfrm>
            <a:off x="1380744" y="40873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 — Conformidade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3246120" y="4087368"/>
            <a:ext cx="3200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Text 52"/>
          <p:cNvSpPr/>
          <p:nvPr/>
        </p:nvSpPr>
        <p:spPr>
          <a:xfrm>
            <a:off x="3300984" y="408736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patches pendentes · Habilitar Bitlocker · Revisar contas inativas e senhas expiradas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6446520" y="4087368"/>
            <a:ext cx="2514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Text 54"/>
          <p:cNvSpPr/>
          <p:nvPr/>
        </p:nvSpPr>
        <p:spPr>
          <a:xfrm>
            <a:off x="6501384" y="408736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Postura geral de conformidade e higiene de segurança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320040" y="4617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e número de sprints definidos após o assessment · Sprints extras disponíveis conforme demanda do cliente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54864"/>
            <a:ext cx="822960" cy="4389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63840" y="-1645920"/>
            <a:ext cx="3200400" cy="3200400"/>
          </a:xfrm>
          <a:prstGeom prst="ellipse">
            <a:avLst/>
          </a:prstGeom>
          <a:solidFill>
            <a:srgbClr val="C9714A">
              <a:alpha val="0"/>
            </a:srgbClr>
          </a:solidFill>
          <a:ln w="1905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7498080" y="-1280160"/>
            <a:ext cx="3474720" cy="3474720"/>
          </a:xfrm>
          <a:prstGeom prst="ellipse">
            <a:avLst/>
          </a:prstGeom>
          <a:solidFill>
            <a:srgbClr val="C9714A">
              <a:alpha val="0"/>
            </a:srgbClr>
          </a:solidFill>
          <a:ln w="8890">
            <a:solidFill>
              <a:srgbClr val="C9714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201168" y="0"/>
            <a:ext cx="8942832" cy="804672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11480" y="914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Monitoramento Contínuo AD Security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20040" y="914400"/>
            <a:ext cx="2057400" cy="4023360"/>
          </a:xfrm>
          <a:prstGeom prst="rect">
            <a:avLst/>
          </a:prstGeom>
          <a:solidFill>
            <a:srgbClr val="F2F4F7"/>
          </a:solidFill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320040" y="914400"/>
            <a:ext cx="2057400" cy="64008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111556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" y="16916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Grafana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11480" y="2286000"/>
            <a:ext cx="1874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acessa em tempo real. Visão executiva (score + semáforo) e visão técnica com eventos, checks de conformidade e tendências.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468880" y="914400"/>
            <a:ext cx="2057400" cy="4023360"/>
          </a:xfrm>
          <a:prstGeom prst="rect">
            <a:avLst/>
          </a:prstGeom>
          <a:solidFill>
            <a:srgbClr val="F2F4F7"/>
          </a:solidFill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2468880" y="914400"/>
            <a:ext cx="2057400" cy="64008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408" y="1115568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560320" y="16916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Mensal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2560320" y="2286000"/>
            <a:ext cx="1874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formal com evolução do score, eventos do período, ações realizadas e recomendações para o mês seguinte.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617720" y="914400"/>
            <a:ext cx="2057400" cy="4023360"/>
          </a:xfrm>
          <a:prstGeom prst="rect">
            <a:avLst/>
          </a:prstGeom>
          <a:solidFill>
            <a:srgbClr val="F2F4F7"/>
          </a:solidFill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4"/>
          <p:cNvSpPr/>
          <p:nvPr/>
        </p:nvSpPr>
        <p:spPr>
          <a:xfrm>
            <a:off x="4617720" y="914400"/>
            <a:ext cx="2057400" cy="64008"/>
          </a:xfrm>
          <a:prstGeom prst="rect">
            <a:avLst/>
          </a:prstGeom>
          <a:solidFill>
            <a:srgbClr val="C9714A"/>
          </a:solidFill>
          <a:ln w="127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3248" y="1115568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09160" y="16916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&amp; Resposta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709160" y="2286000"/>
            <a:ext cx="1874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 críticas chegam para a equipe Redix. Bitlocker desativado, LSA Protection, eventos 1102/4719 → resposta imediata.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766560" y="914400"/>
            <a:ext cx="2057400" cy="4023360"/>
          </a:xfrm>
          <a:prstGeom prst="rect">
            <a:avLst/>
          </a:prstGeom>
          <a:solidFill>
            <a:srgbClr val="F2F4F7"/>
          </a:solidFill>
          <a:ln w="635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18"/>
          <p:cNvSpPr/>
          <p:nvPr/>
        </p:nvSpPr>
        <p:spPr>
          <a:xfrm>
            <a:off x="6766560" y="914400"/>
            <a:ext cx="2057400" cy="6400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2088" y="1115568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858000" y="16916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 como motor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6858000" y="2286000"/>
            <a:ext cx="1874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Zabbix nos DCs. Itens, triggers e actions configurados para coletar e processar todas as métricas de segurança definidas.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32004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Redix atua proativamente — o cliente é acionado quando há problema, não precisa monitorar sozinho.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8942832" cy="804672"/>
          </a:xfrm>
          <a:prstGeom prst="rect">
            <a:avLst/>
          </a:prstGeom>
          <a:solidFill>
            <a:srgbClr val="1B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8503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03  Monitoramento Contínuo — Dashboard Grafana</a:t>
            </a:r>
          </a:p>
        </p:txBody>
      </p:sp>
      <p:sp>
        <p:nvSpPr>
          <p:cNvPr id="5" name="Oval 4"/>
          <p:cNvSpPr/>
          <p:nvPr/>
        </p:nvSpPr>
        <p:spPr>
          <a:xfrm>
            <a:off x="7132320" y="-1280160"/>
            <a:ext cx="2926080" cy="2926080"/>
          </a:xfrm>
          <a:prstGeom prst="ellipse">
            <a:avLst/>
          </a:prstGeom>
          <a:noFill/>
          <a:ln w="25400">
            <a:solidFill>
              <a:srgbClr val="C97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06640" y="-1005840"/>
            <a:ext cx="2560320" cy="2560320"/>
          </a:xfrm>
          <a:prstGeom prst="ellipse">
            <a:avLst/>
          </a:prstGeom>
          <a:noFill/>
          <a:ln w="12700">
            <a:solidFill>
              <a:srgbClr val="C97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54864"/>
            <a:ext cx="822960" cy="4389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91440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4A5568"/>
                </a:solidFill>
                <a:latin typeface="Calibri"/>
              </a:rPr>
              <a:t>Protótipo do dashboard — visão real que o cliente e a equipe Redix terão no Grafana</a:t>
            </a:r>
          </a:p>
        </p:txBody>
      </p:sp>
      <p:pic>
        <p:nvPicPr>
          <p:cNvPr id="9" name="Picture 8" descr="grafana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98448"/>
            <a:ext cx="8321040" cy="3566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4864608"/>
            <a:ext cx="8503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i="1">
                <a:solidFill>
                  <a:srgbClr val="94A3B8"/>
                </a:solidFill>
                <a:latin typeface="Calibri"/>
              </a:rPr>
              <a:t>Dashboard construído em Grafana com fonte de dados Zabbix · Filtros por DC, período e ambiente disponíveis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54864"/>
            <a:ext cx="822960" cy="4389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63840" y="-1645920"/>
            <a:ext cx="3200400" cy="3200400"/>
          </a:xfrm>
          <a:prstGeom prst="ellipse">
            <a:avLst/>
          </a:prstGeom>
          <a:solidFill>
            <a:srgbClr val="C9714A">
              <a:alpha val="0"/>
            </a:srgbClr>
          </a:solidFill>
          <a:ln w="1905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7498080" y="-1280160"/>
            <a:ext cx="3474720" cy="3474720"/>
          </a:xfrm>
          <a:prstGeom prst="ellipse">
            <a:avLst/>
          </a:prstGeom>
          <a:solidFill>
            <a:srgbClr val="C9714A">
              <a:alpha val="0"/>
            </a:srgbClr>
          </a:solidFill>
          <a:ln w="8890">
            <a:solidFill>
              <a:srgbClr val="C9714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41148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cobrança e precificação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20040" y="914400"/>
            <a:ext cx="2697480" cy="4023360"/>
          </a:xfrm>
          <a:prstGeom prst="rect">
            <a:avLst/>
          </a:prstGeom>
          <a:solidFill>
            <a:srgbClr val="EBF4FF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320040" y="914400"/>
            <a:ext cx="2697480" cy="457200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411480" y="93268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Assessment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29768" y="146304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fixo por ambiente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17830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R$ 3.000 – 6.000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11480" y="22860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assessment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1480" y="2587752"/>
            <a:ext cx="2468880" cy="0"/>
          </a:xfrm>
          <a:prstGeom prst="line">
            <a:avLst/>
          </a:prstGeom>
          <a:noFill/>
          <a:ln w="6350">
            <a:solidFill>
              <a:srgbClr val="1B5E8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429768" y="2715768"/>
            <a:ext cx="91440" cy="91440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76072" y="26700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DCs → faixa menor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9768" y="3099816"/>
            <a:ext cx="91440" cy="91440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576072" y="305409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DCs → faixa maior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29768" y="3483864"/>
            <a:ext cx="91440" cy="91440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76072" y="343814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em até 10 dias úteis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29768" y="3867912"/>
            <a:ext cx="91440" cy="91440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576072" y="38221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+ apresentação executiva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154680" y="914400"/>
            <a:ext cx="2697480" cy="4023360"/>
          </a:xfrm>
          <a:prstGeom prst="rect">
            <a:avLst/>
          </a:prstGeom>
          <a:solidFill>
            <a:srgbClr val="FDF0EB"/>
          </a:solidFill>
          <a:ln w="127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3154680" y="914400"/>
            <a:ext cx="2697480" cy="457200"/>
          </a:xfrm>
          <a:prstGeom prst="rect">
            <a:avLst/>
          </a:prstGeom>
          <a:solidFill>
            <a:srgbClr val="C9714A"/>
          </a:solidFill>
          <a:ln w="127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3246120" y="93268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Plano de Ação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264408" y="146304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hora ou pacote de sprints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246120" y="17830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7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R$ 4.000 – 12.000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246120" y="22860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projeto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246120" y="2587752"/>
            <a:ext cx="2468880" cy="0"/>
          </a:xfrm>
          <a:prstGeom prst="line">
            <a:avLst/>
          </a:prstGeom>
          <a:noFill/>
          <a:ln w="6350">
            <a:solidFill>
              <a:srgbClr val="C9714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6"/>
          <p:cNvSpPr/>
          <p:nvPr/>
        </p:nvSpPr>
        <p:spPr>
          <a:xfrm>
            <a:off x="3264408" y="2715768"/>
            <a:ext cx="91440" cy="91440"/>
          </a:xfrm>
          <a:prstGeom prst="rect">
            <a:avLst/>
          </a:prstGeom>
          <a:solidFill>
            <a:srgbClr val="C9714A"/>
          </a:solidFill>
          <a:ln w="127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3410712" y="26700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pós-assessment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264408" y="3099816"/>
            <a:ext cx="91440" cy="91440"/>
          </a:xfrm>
          <a:prstGeom prst="rect">
            <a:avLst/>
          </a:prstGeom>
          <a:solidFill>
            <a:srgbClr val="C9714A"/>
          </a:solidFill>
          <a:ln w="127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/>
          <p:nvPr/>
        </p:nvSpPr>
        <p:spPr>
          <a:xfrm>
            <a:off x="3410712" y="305409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2 semanas cada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264408" y="3483864"/>
            <a:ext cx="91440" cy="91440"/>
          </a:xfrm>
          <a:prstGeom prst="rect">
            <a:avLst/>
          </a:prstGeom>
          <a:solidFill>
            <a:srgbClr val="C9714A"/>
          </a:solidFill>
          <a:ln w="127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1"/>
          <p:cNvSpPr/>
          <p:nvPr/>
        </p:nvSpPr>
        <p:spPr>
          <a:xfrm>
            <a:off x="3410712" y="343814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 validação dos ajustes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264408" y="3867912"/>
            <a:ext cx="91440" cy="91440"/>
          </a:xfrm>
          <a:prstGeom prst="rect">
            <a:avLst/>
          </a:prstGeom>
          <a:solidFill>
            <a:srgbClr val="C9714A"/>
          </a:solidFill>
          <a:ln w="127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3"/>
          <p:cNvSpPr/>
          <p:nvPr/>
        </p:nvSpPr>
        <p:spPr>
          <a:xfrm>
            <a:off x="3410712" y="38221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definido por criticidade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989320" y="914400"/>
            <a:ext cx="2697480" cy="4023360"/>
          </a:xfrm>
          <a:prstGeom prst="rect">
            <a:avLst/>
          </a:prstGeom>
          <a:solidFill>
            <a:srgbClr val="EDFAF1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5"/>
          <p:cNvSpPr/>
          <p:nvPr/>
        </p:nvSpPr>
        <p:spPr>
          <a:xfrm>
            <a:off x="5989320" y="914400"/>
            <a:ext cx="2697480" cy="457200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6"/>
          <p:cNvSpPr/>
          <p:nvPr/>
        </p:nvSpPr>
        <p:spPr>
          <a:xfrm>
            <a:off x="6080760" y="93268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Monitoramento Contínuo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099048" y="146304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Mensalidade recorrente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080760" y="17830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R$ 800 – 2.000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6080760" y="22860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DC / mês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080760" y="2587752"/>
            <a:ext cx="2468880" cy="0"/>
          </a:xfrm>
          <a:prstGeom prst="line">
            <a:avLst/>
          </a:prstGeom>
          <a:noFill/>
          <a:ln w="6350">
            <a:solidFill>
              <a:srgbClr val="22863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1"/>
          <p:cNvSpPr/>
          <p:nvPr/>
        </p:nvSpPr>
        <p:spPr>
          <a:xfrm>
            <a:off x="6099048" y="2715768"/>
            <a:ext cx="91440" cy="91440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2"/>
          <p:cNvSpPr/>
          <p:nvPr/>
        </p:nvSpPr>
        <p:spPr>
          <a:xfrm>
            <a:off x="6245352" y="267004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R$ 800/DC/mês (1–2 DCs)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6099048" y="3099816"/>
            <a:ext cx="91440" cy="91440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4"/>
          <p:cNvSpPr/>
          <p:nvPr/>
        </p:nvSpPr>
        <p:spPr>
          <a:xfrm>
            <a:off x="6245352" y="305409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DCs: desconto progressivo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6099048" y="3483864"/>
            <a:ext cx="91440" cy="91440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6"/>
          <p:cNvSpPr/>
          <p:nvPr/>
        </p:nvSpPr>
        <p:spPr>
          <a:xfrm>
            <a:off x="6245352" y="343814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relatório mensal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6099048" y="3867912"/>
            <a:ext cx="91440" cy="91440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8"/>
          <p:cNvSpPr/>
          <p:nvPr/>
        </p:nvSpPr>
        <p:spPr>
          <a:xfrm>
            <a:off x="6245352" y="382219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de resposta a incidentes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32004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de referência — ajustar conforme porte do cliente, complexidade do ambiente e margem desejada.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54864"/>
            <a:ext cx="822960" cy="4389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63840" y="-1645920"/>
            <a:ext cx="3200400" cy="3200400"/>
          </a:xfrm>
          <a:prstGeom prst="ellipse">
            <a:avLst/>
          </a:prstGeom>
          <a:solidFill>
            <a:srgbClr val="C9714A">
              <a:alpha val="0"/>
            </a:srgbClr>
          </a:solidFill>
          <a:ln w="1905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7498080" y="-1280160"/>
            <a:ext cx="3474720" cy="3474720"/>
          </a:xfrm>
          <a:prstGeom prst="ellipse">
            <a:avLst/>
          </a:prstGeom>
          <a:solidFill>
            <a:srgbClr val="C9714A">
              <a:alpha val="0"/>
            </a:srgbClr>
          </a:solidFill>
          <a:ln w="8890">
            <a:solidFill>
              <a:srgbClr val="C9714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41148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de receita — cenários de escala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320040" y="8229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estimado — monitoramento contínuo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1143000"/>
          <a:ext cx="50292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42245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Premissa: 2 DCs por cliente · R$ 1.200/DC/mês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577840" y="8229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completos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170432"/>
          <a:ext cx="3657600" cy="22860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Cenário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Crescimento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R$ 144k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R$ 24k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R$ 288k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R$ 36k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R$ 432k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577840" y="3611880"/>
            <a:ext cx="3337560" cy="1188720"/>
          </a:xfrm>
          <a:prstGeom prst="rect">
            <a:avLst/>
          </a:prstGeom>
          <a:solidFill>
            <a:srgbClr val="FDF0EB"/>
          </a:solidFill>
          <a:ln w="127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568" y="3721608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998464" y="3721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7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adicional (não-recorrente)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5669280" y="404164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assessment: R$ 3–6k · Plano de ação: R$ 4–12k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2 assessments/mês: +R$ 6–12k de receita extra.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54864"/>
            <a:ext cx="822960" cy="4389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863840" y="-1645920"/>
            <a:ext cx="3200400" cy="3200400"/>
          </a:xfrm>
          <a:prstGeom prst="ellipse">
            <a:avLst/>
          </a:prstGeom>
          <a:solidFill>
            <a:srgbClr val="C9714A">
              <a:alpha val="0"/>
            </a:srgbClr>
          </a:solidFill>
          <a:ln w="1905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7498080" y="-1280160"/>
            <a:ext cx="3474720" cy="3474720"/>
          </a:xfrm>
          <a:prstGeom prst="ellipse">
            <a:avLst/>
          </a:prstGeom>
          <a:solidFill>
            <a:srgbClr val="C9714A">
              <a:alpha val="0"/>
            </a:srgbClr>
          </a:solidFill>
          <a:ln w="8890">
            <a:solidFill>
              <a:srgbClr val="C9714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411480" y="201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escalar o produto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20040" y="914400"/>
            <a:ext cx="2697480" cy="4023360"/>
          </a:xfrm>
          <a:prstGeom prst="rect">
            <a:avLst/>
          </a:prstGeom>
          <a:solidFill>
            <a:srgbClr val="EBF4FF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320040" y="914400"/>
            <a:ext cx="2697480" cy="64008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429768" y="1042416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Validar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29768" y="141732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1–3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1847088"/>
            <a:ext cx="118872" cy="118872"/>
          </a:xfrm>
          <a:prstGeom prst="ellipse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630936" y="1792224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Pilotar com 2–3 clientes âncora da base atual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377440"/>
            <a:ext cx="118872" cy="118872"/>
          </a:xfrm>
          <a:prstGeom prst="ellipse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30936" y="2322576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Refinar metodologia de assessment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907792"/>
            <a:ext cx="118872" cy="118872"/>
          </a:xfrm>
          <a:prstGeom prst="ellipse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30936" y="285292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runbooks de resposta a incidentes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438144"/>
            <a:ext cx="118872" cy="118872"/>
          </a:xfrm>
          <a:prstGeom prst="ellipse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630936" y="33832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precificação com base no feedback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154680" y="914400"/>
            <a:ext cx="2697480" cy="4023360"/>
          </a:xfrm>
          <a:prstGeom prst="rect">
            <a:avLst/>
          </a:prstGeom>
          <a:solidFill>
            <a:srgbClr val="FDF0EB"/>
          </a:solidFill>
          <a:ln w="127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3154680" y="914400"/>
            <a:ext cx="2697480" cy="64008"/>
          </a:xfrm>
          <a:prstGeom prst="rect">
            <a:avLst/>
          </a:prstGeom>
          <a:solidFill>
            <a:srgbClr val="C9714A"/>
          </a:solidFill>
          <a:ln w="127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3264408" y="1042416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Crescer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264408" y="141732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7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4–9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291840" y="1847088"/>
            <a:ext cx="118872" cy="118872"/>
          </a:xfrm>
          <a:prstGeom prst="ellipse">
            <a:avLst/>
          </a:prstGeom>
          <a:solidFill>
            <a:srgbClr val="C9714A"/>
          </a:solidFill>
          <a:ln w="127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3465576" y="1792224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Oferecer assessment para toda a base de clientes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91840" y="2377440"/>
            <a:ext cx="118872" cy="118872"/>
          </a:xfrm>
          <a:prstGeom prst="ellipse">
            <a:avLst/>
          </a:prstGeom>
          <a:solidFill>
            <a:srgbClr val="C9714A"/>
          </a:solidFill>
          <a:ln w="127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3465576" y="2322576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pacote de upsell automático pós-assessment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291840" y="2907792"/>
            <a:ext cx="118872" cy="118872"/>
          </a:xfrm>
          <a:prstGeom prst="ellipse">
            <a:avLst/>
          </a:prstGeom>
          <a:solidFill>
            <a:srgbClr val="C9714A"/>
          </a:solidFill>
          <a:ln w="127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3465576" y="285292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relatório mensal padronizado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291840" y="3438144"/>
            <a:ext cx="118872" cy="118872"/>
          </a:xfrm>
          <a:prstGeom prst="ellipse">
            <a:avLst/>
          </a:prstGeom>
          <a:solidFill>
            <a:srgbClr val="C9714A"/>
          </a:solidFill>
          <a:ln w="127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3465576" y="33832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analista dedicado à linha de segurança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989320" y="914400"/>
            <a:ext cx="2697480" cy="4023360"/>
          </a:xfrm>
          <a:prstGeom prst="rect">
            <a:avLst/>
          </a:prstGeom>
          <a:solidFill>
            <a:srgbClr val="EDFAF1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29"/>
          <p:cNvSpPr/>
          <p:nvPr/>
        </p:nvSpPr>
        <p:spPr>
          <a:xfrm>
            <a:off x="5989320" y="914400"/>
            <a:ext cx="2697480" cy="64008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6099048" y="1042416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Escalar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099048" y="1417320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do mês 10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126480" y="1847088"/>
            <a:ext cx="118872" cy="118872"/>
          </a:xfrm>
          <a:prstGeom prst="ellipse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3"/>
          <p:cNvSpPr/>
          <p:nvPr/>
        </p:nvSpPr>
        <p:spPr>
          <a:xfrm>
            <a:off x="6300216" y="1792224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Lançar como produto formal no portfólio Redix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126480" y="2377440"/>
            <a:ext cx="118872" cy="118872"/>
          </a:xfrm>
          <a:prstGeom prst="ellipse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5"/>
          <p:cNvSpPr/>
          <p:nvPr/>
        </p:nvSpPr>
        <p:spPr>
          <a:xfrm>
            <a:off x="6300216" y="2322576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focado em mid-market com AD exposto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126480" y="2907792"/>
            <a:ext cx="118872" cy="118872"/>
          </a:xfrm>
          <a:prstGeom prst="ellipse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7"/>
          <p:cNvSpPr/>
          <p:nvPr/>
        </p:nvSpPr>
        <p:spPr>
          <a:xfrm>
            <a:off x="6300216" y="2852928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self-service para clientes maiores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126480" y="3438144"/>
            <a:ext cx="118872" cy="118872"/>
          </a:xfrm>
          <a:prstGeom prst="ellipse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39"/>
          <p:cNvSpPr/>
          <p:nvPr/>
        </p:nvSpPr>
        <p:spPr>
          <a:xfrm>
            <a:off x="6300216" y="338328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certificações ISO 27001 e parceria Microsoft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32004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de clientes existente é o principal ativo — cada cliente já monitorado é um prospect qualificado para o assessment.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217920" y="-2011680"/>
            <a:ext cx="5029200" cy="5029200"/>
          </a:xfrm>
          <a:prstGeom prst="ellipse">
            <a:avLst/>
          </a:prstGeom>
          <a:solidFill>
            <a:srgbClr val="C9714A">
              <a:alpha val="0"/>
            </a:srgbClr>
          </a:solidFill>
          <a:ln w="254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675120" y="-1554480"/>
            <a:ext cx="4114800" cy="4114800"/>
          </a:xfrm>
          <a:prstGeom prst="ellipse">
            <a:avLst/>
          </a:prstGeom>
          <a:solidFill>
            <a:srgbClr val="C9714A">
              <a:alpha val="0"/>
            </a:srgbClr>
          </a:solidFill>
          <a:ln w="12700">
            <a:solidFill>
              <a:srgbClr val="C9714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54864"/>
            <a:ext cx="822960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731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457200" y="1572768"/>
            <a:ext cx="384048" cy="365760"/>
          </a:xfrm>
          <a:prstGeom prst="rect">
            <a:avLst/>
          </a:prstGeom>
          <a:solidFill>
            <a:srgbClr val="C9714A"/>
          </a:solidFill>
          <a:ln w="127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457200" y="157276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158191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o modelo de produto e precificação com a liderança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121408"/>
            <a:ext cx="384048" cy="365760"/>
          </a:xfrm>
          <a:prstGeom prst="rect">
            <a:avLst/>
          </a:prstGeom>
          <a:solidFill>
            <a:srgbClr val="C9714A"/>
          </a:solidFill>
          <a:ln w="127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457200" y="212140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21305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2–3 clientes da base para o projeto piloto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670048"/>
            <a:ext cx="384048" cy="365760"/>
          </a:xfrm>
          <a:prstGeom prst="rect">
            <a:avLst/>
          </a:prstGeom>
          <a:solidFill>
            <a:srgbClr val="C9714A"/>
          </a:solidFill>
          <a:ln w="127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457200" y="267004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" y="267919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o investimento técnico inicial (Zabbix template + dashboard Grafana)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218688"/>
            <a:ext cx="384048" cy="365760"/>
          </a:xfrm>
          <a:prstGeom prst="rect">
            <a:avLst/>
          </a:prstGeom>
          <a:solidFill>
            <a:srgbClr val="C9714A"/>
          </a:solidFill>
          <a:ln w="12700">
            <a:solidFill>
              <a:srgbClr val="C971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457200" y="32186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14400" y="322783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responsável interno pela linha de produto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20040" y="41605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Security Monitoring — Redix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320040" y="46177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nossa base de clientes, esse produto tem tudo para se tornar um diferencial competitivo e uma fonte relevante de receita recorrente.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1258</Words>
  <Application>Microsoft Office PowerPoint</Application>
  <PresentationFormat>Apresentação na tela (16:9)</PresentationFormat>
  <Paragraphs>195</Paragraphs>
  <Slides>12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 Security Monitoring — Redix</dc:title>
  <dc:subject>PptxGenJS Presentation</dc:subject>
  <dc:creator>PptxGenJS</dc:creator>
  <cp:lastModifiedBy>Henrique de Andrade Soares dos Santos</cp:lastModifiedBy>
  <cp:revision>2</cp:revision>
  <dcterms:created xsi:type="dcterms:W3CDTF">2026-04-19T20:25:19Z</dcterms:created>
  <dcterms:modified xsi:type="dcterms:W3CDTF">2026-04-24T20:20:21Z</dcterms:modified>
</cp:coreProperties>
</file>